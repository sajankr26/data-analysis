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embeddedFontLst>
    <p:embeddedFont>
      <p:font typeface="Roboto" panose="02000000000000000000" pitchFamily="2" charset="0"/>
      <p:regular r:id="rId12"/>
    </p:embeddedFont>
    <p:embeddedFont>
      <p:font typeface="Roboto Bold" panose="02000000000000000000" charset="0"/>
      <p:regular r:id="rId13"/>
    </p:embeddedFont>
    <p:embeddedFont>
      <p:font typeface="Roboto Mono Medium" panose="00000009000000000000" pitchFamily="49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F50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43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1606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218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4471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530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29806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65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051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15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0656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814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623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516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5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330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00936064-B868-923A-64E6-D0E1E444C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64" r="65580" b="69"/>
          <a:stretch>
            <a:fillRect/>
          </a:stretch>
        </p:blipFill>
        <p:spPr>
          <a:xfrm>
            <a:off x="0" y="1"/>
            <a:ext cx="4972050" cy="6858000"/>
          </a:xfrm>
          <a:prstGeom prst="rect">
            <a:avLst/>
          </a:prstGeom>
        </p:spPr>
      </p:pic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EBAD4FE1-FF6E-3D59-BC5A-1E562931E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1884" y="3221930"/>
            <a:ext cx="6558475" cy="1181298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4F190B71-0859-A472-CE47-E0E4F307DAB0}"/>
              </a:ext>
            </a:extLst>
          </p:cNvPr>
          <p:cNvSpPr/>
          <p:nvPr/>
        </p:nvSpPr>
        <p:spPr>
          <a:xfrm>
            <a:off x="5171884" y="1842889"/>
            <a:ext cx="6558476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 Analysis System</a:t>
            </a:r>
            <a:endParaRPr lang="en-US" sz="37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A70CCE16-6967-3A18-8256-BA8AFC716A83}"/>
              </a:ext>
            </a:extLst>
          </p:cNvPr>
          <p:cNvSpPr/>
          <p:nvPr/>
        </p:nvSpPr>
        <p:spPr>
          <a:xfrm>
            <a:off x="5433500" y="330765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desktop application that transforms manual spreadsheet workflows into a streamlined, end-to-end data pipeline — upload, edit, analyze, and export, all in one place.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6693"/>
            <a:ext cx="1232762" cy="215305"/>
          </a:xfrm>
          <a:prstGeom prst="roundRect">
            <a:avLst>
              <a:gd name="adj" fmla="val 7901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29159"/>
            <a:ext cx="16722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446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This Application Does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546920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with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Python, PyQt6, Pandas, and MySQL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this desktop tool replaces fragmented Excel workflows with a single integrated environment for data management and analysis.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2063353"/>
            <a:ext cx="5381193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7" name="Shape 5"/>
          <p:cNvSpPr/>
          <p:nvPr/>
        </p:nvSpPr>
        <p:spPr>
          <a:xfrm>
            <a:off x="803156" y="2205038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132" y="2321917"/>
            <a:ext cx="191289" cy="191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3156" y="2736552"/>
            <a:ext cx="5097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Login &amp; Register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3156" y="3021707"/>
            <a:ext cx="50978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authentication layer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8928" y="2063353"/>
            <a:ext cx="5381292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12" name="Shape 9"/>
          <p:cNvSpPr/>
          <p:nvPr/>
        </p:nvSpPr>
        <p:spPr>
          <a:xfrm>
            <a:off x="6290609" y="2205038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7585" y="2321917"/>
            <a:ext cx="191289" cy="1912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90609" y="2736552"/>
            <a:ext cx="50979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Upload Excel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290609" y="3021707"/>
            <a:ext cx="50979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spreadsheets directly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61475" y="3468092"/>
            <a:ext cx="5381193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17" name="Shape 13"/>
          <p:cNvSpPr/>
          <p:nvPr/>
        </p:nvSpPr>
        <p:spPr>
          <a:xfrm>
            <a:off x="803156" y="3609777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132" y="3726656"/>
            <a:ext cx="191289" cy="1912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3156" y="4141291"/>
            <a:ext cx="5097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Edit &amp; Search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03156" y="4426446"/>
            <a:ext cx="50978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Inline editing and find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148928" y="3468092"/>
            <a:ext cx="5381292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22" name="Shape 17"/>
          <p:cNvSpPr/>
          <p:nvPr/>
        </p:nvSpPr>
        <p:spPr>
          <a:xfrm>
            <a:off x="6290609" y="3609777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7585" y="3726656"/>
            <a:ext cx="191289" cy="19129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90609" y="4141291"/>
            <a:ext cx="50979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Database Storage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290609" y="4426446"/>
            <a:ext cx="50979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 data in MySQL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61475" y="4872831"/>
            <a:ext cx="5381193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27" name="Shape 21"/>
          <p:cNvSpPr/>
          <p:nvPr/>
        </p:nvSpPr>
        <p:spPr>
          <a:xfrm>
            <a:off x="803156" y="5014516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132" y="5131395"/>
            <a:ext cx="191289" cy="19129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3156" y="5546030"/>
            <a:ext cx="50978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Graphical Analysis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803156" y="5831185"/>
            <a:ext cx="50978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with charts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48928" y="4872831"/>
            <a:ext cx="5381292" cy="1298476"/>
          </a:xfrm>
          <a:prstGeom prst="roundRect">
            <a:avLst>
              <a:gd name="adj" fmla="val 1638"/>
            </a:avLst>
          </a:prstGeom>
          <a:solidFill>
            <a:srgbClr val="404040"/>
          </a:solidFill>
          <a:ln/>
        </p:spPr>
      </p:sp>
      <p:sp>
        <p:nvSpPr>
          <p:cNvPr id="32" name="Shape 25"/>
          <p:cNvSpPr/>
          <p:nvPr/>
        </p:nvSpPr>
        <p:spPr>
          <a:xfrm>
            <a:off x="6290609" y="5014516"/>
            <a:ext cx="425241" cy="425252"/>
          </a:xfrm>
          <a:prstGeom prst="ellipse">
            <a:avLst/>
          </a:prstGeom>
          <a:solidFill>
            <a:srgbClr val="DCFF5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7585" y="5131395"/>
            <a:ext cx="191289" cy="19129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90609" y="5546030"/>
            <a:ext cx="50979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Export to Excel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6290609" y="5831185"/>
            <a:ext cx="50979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results back out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3">
            <a:extLst>
              <a:ext uri="{FF2B5EF4-FFF2-40B4-BE49-F238E27FC236}">
                <a16:creationId xmlns:a16="http://schemas.microsoft.com/office/drawing/2014/main" id="{B3AECAC3-1B46-8AC1-5127-61C4DBBA8137}"/>
              </a:ext>
            </a:extLst>
          </p:cNvPr>
          <p:cNvSpPr/>
          <p:nvPr/>
        </p:nvSpPr>
        <p:spPr>
          <a:xfrm>
            <a:off x="6124575" y="2744688"/>
            <a:ext cx="5648968" cy="2053034"/>
          </a:xfrm>
          <a:prstGeom prst="roundRect">
            <a:avLst>
              <a:gd name="adj" fmla="val 1381"/>
            </a:avLst>
          </a:prstGeom>
          <a:solidFill>
            <a:schemeClr val="bg1">
              <a:lumMod val="95000"/>
              <a:lumOff val="5000"/>
            </a:schemeClr>
          </a:solidFill>
          <a:ln/>
        </p:spPr>
      </p:sp>
      <p:sp>
        <p:nvSpPr>
          <p:cNvPr id="2" name="Shape 0"/>
          <p:cNvSpPr/>
          <p:nvPr/>
        </p:nvSpPr>
        <p:spPr>
          <a:xfrm>
            <a:off x="661475" y="917178"/>
            <a:ext cx="1793632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73832"/>
            <a:ext cx="21764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&amp; 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799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From Manual Chaos to Streamlined Workflow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381001" y="2744688"/>
            <a:ext cx="5648968" cy="2053034"/>
          </a:xfrm>
          <a:prstGeom prst="roundRect">
            <a:avLst>
              <a:gd name="adj" fmla="val 1381"/>
            </a:avLst>
          </a:prstGeom>
          <a:solidFill>
            <a:srgbClr val="DCFF50"/>
          </a:solidFill>
          <a:ln/>
        </p:spPr>
      </p:sp>
      <p:sp>
        <p:nvSpPr>
          <p:cNvPr id="8" name="Text 6"/>
          <p:cNvSpPr/>
          <p:nvPr/>
        </p:nvSpPr>
        <p:spPr>
          <a:xfrm>
            <a:off x="6418501" y="293370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Solution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418501" y="341798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integrated desktop application that handles the full data lifecycle: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upload, edit, store, analyze, and export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within a single, cohesive interface backed by a real database.</a:t>
            </a: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39727-D7C2-95E4-681F-80D1829519A3}"/>
              </a:ext>
            </a:extLst>
          </p:cNvPr>
          <p:cNvSpPr/>
          <p:nvPr/>
        </p:nvSpPr>
        <p:spPr>
          <a:xfrm>
            <a:off x="476250" y="2744688"/>
            <a:ext cx="85725" cy="2052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047FC6-E6C4-28C0-438D-7E35F513AC1D}"/>
              </a:ext>
            </a:extLst>
          </p:cNvPr>
          <p:cNvSpPr/>
          <p:nvPr/>
        </p:nvSpPr>
        <p:spPr>
          <a:xfrm>
            <a:off x="6219824" y="2744688"/>
            <a:ext cx="85725" cy="2052000"/>
          </a:xfrm>
          <a:prstGeom prst="rect">
            <a:avLst/>
          </a:prstGeom>
          <a:solidFill>
            <a:srgbClr val="DCFF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0BA1828-0F1C-1EA3-5CDE-97A8F41643D3}"/>
              </a:ext>
            </a:extLst>
          </p:cNvPr>
          <p:cNvSpPr/>
          <p:nvPr/>
        </p:nvSpPr>
        <p:spPr>
          <a:xfrm>
            <a:off x="647682" y="293370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C369910A-03F5-6740-9432-B6EF269C46FB}"/>
              </a:ext>
            </a:extLst>
          </p:cNvPr>
          <p:cNvSpPr/>
          <p:nvPr/>
        </p:nvSpPr>
        <p:spPr>
          <a:xfrm>
            <a:off x="647682" y="3417987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Excel processing is slow, error-prone, and doesn't scale. Teams waste hours on repetitive data entry, formatting, and analysis — with no centralized storage or audit trail.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315"/>
            <a:ext cx="944936" cy="243979"/>
          </a:xfrm>
          <a:prstGeom prst="roundRect">
            <a:avLst>
              <a:gd name="adj" fmla="val 7902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30436"/>
            <a:ext cx="136184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8086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Technologies Behind the System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661475" y="215999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Python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492871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language powering all application logic, data processing, and backend operations.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173" y="1587698"/>
            <a:ext cx="401627" cy="4016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1173" y="215999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PyQt6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81173" y="2492871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Desktop GUI framework for building the native application interface and user interactions.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241377"/>
            <a:ext cx="401627" cy="4016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813671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Pandas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61475" y="4146550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manipulation and analysis — reading, transforming, and querying Excel datasets.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173" y="3241377"/>
            <a:ext cx="401627" cy="4016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1173" y="3813671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MySQL + SQLAlchemy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181173" y="4146550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Relational database with ORM layer for structured, persistent data storage.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95056"/>
            <a:ext cx="401627" cy="4016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5467350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Matplotlib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61475" y="5800229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Charting library for generating bar charts, pie charts, and business visualizations.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1173" y="4895056"/>
            <a:ext cx="401627" cy="40163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81173" y="5467350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OpenPyXL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181173" y="5800229"/>
            <a:ext cx="53490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file handling for reading and writing .xlsx workbooks during import and export.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1B8E35-6C3B-BDB5-BB62-5AF7500715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28" y="1647527"/>
            <a:ext cx="632919" cy="502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5977"/>
            <a:ext cx="942158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32631"/>
            <a:ext cx="13249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3872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Core Capabilities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2838"/>
            <a:ext cx="3496877" cy="2040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12725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Authentication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253593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login and registration with session management to protect user data.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674" y="1912838"/>
            <a:ext cx="3496877" cy="20400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9088" y="212725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Excel Import &amp; Editable Table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749088" y="2831207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any Excel file and edit data inline within a responsive table view.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8969" y="1912838"/>
            <a:ext cx="3496877" cy="20400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34972" y="212725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Search &amp; Save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434972" y="2535932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records instantly and persist changes back to the MySQL database.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41887"/>
            <a:ext cx="3496877" cy="204003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7479" y="435629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Revenue Analysis &amp; Charts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77479" y="506025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 key business metrics — revenue, products, payments, and order status.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4141887"/>
            <a:ext cx="3496877" cy="204003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363" y="435629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Export to Excel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663363" y="476498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Download processed and analyzed data back to a formatted Excel workbook.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35F6140-A3F9-BA08-7BA1-E1990AC8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75" y="1390793"/>
            <a:ext cx="4212205" cy="334979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7825" y="372339"/>
            <a:ext cx="1076100" cy="243979"/>
          </a:xfrm>
          <a:prstGeom prst="roundRect">
            <a:avLst>
              <a:gd name="adj" fmla="val 7902"/>
            </a:avLst>
          </a:prstGeom>
          <a:solidFill>
            <a:srgbClr val="3D4D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64164" y="420460"/>
            <a:ext cx="149300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5026" y="75253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Application in Action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7825" y="139079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interface combines a clean table view for data editing with integrated chart panels for instant visual analysis — all within a single desktop window.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D12C87-D6F7-EDED-1A65-D53B0E3A6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180" y="1819163"/>
            <a:ext cx="6517845" cy="4619736"/>
          </a:xfrm>
          <a:prstGeom prst="rect">
            <a:avLst/>
          </a:prstGeom>
          <a:effectLst>
            <a:glow rad="63500">
              <a:schemeClr val="bg1">
                <a:alpha val="40000"/>
              </a:schemeClr>
            </a:glo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C6AFC1-C213-A2D1-7161-C8E6175CF3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8" t="2459" r="2030" b="909"/>
          <a:stretch>
            <a:fillRect/>
          </a:stretch>
        </p:blipFill>
        <p:spPr>
          <a:xfrm>
            <a:off x="1205875" y="4412359"/>
            <a:ext cx="3078734" cy="2025181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9099" y="402035"/>
            <a:ext cx="1100651" cy="262434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31720" y="464195"/>
            <a:ext cx="1560870" cy="20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GRAPHICAL</a:t>
            </a: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28563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Business Insights Through Visualization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18053" y="2903239"/>
            <a:ext cx="3873897" cy="303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 Gets Visualized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18053" y="3278981"/>
            <a:ext cx="3873897" cy="303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Matplotlib-powered charts turn raw spreadsheet rows into actionable business intelligence: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328" y="5482779"/>
            <a:ext cx="175613" cy="175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1969" y="5476974"/>
            <a:ext cx="5008536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Products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revenue and volume by product line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043" y="5482779"/>
            <a:ext cx="175613" cy="1756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21684" y="5476974"/>
            <a:ext cx="5008536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Payments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transaction trends and status breakdowns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328" y="5984925"/>
            <a:ext cx="175613" cy="1756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1969" y="5979120"/>
            <a:ext cx="5008536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Referrals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source attribution and conversion rates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5043" y="5984925"/>
            <a:ext cx="175613" cy="17561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21684" y="5979120"/>
            <a:ext cx="5008536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Order Status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pie and bar charts for pipeline visibility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18172F-691F-EBA5-7376-6AEC4ADF3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530" y="1229420"/>
            <a:ext cx="7095907" cy="3729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73262"/>
            <a:ext cx="1167875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29916"/>
            <a:ext cx="15506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360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Engineering Hurdles Overcome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410123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404040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5991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Large Excel Files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3007816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Optimizing Pandas reads to handle high-volume datasets without freezing the GUI.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410123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404040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5991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Database Sync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3007816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Keeping the MySQL store consistent with in-memory table edits and user actions.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410123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59913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Dynamic Graphs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3007816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Rendering charts that update in real time as filters and data selections change.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293096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4482108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GUI Design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4890790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Balancing feature density with usability in a PyQt6 desktop interface.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293096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08" y="4482108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9308" y="4890790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Graceful fallbacks for malformed Excel files, connection failures, and edge cases.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9575" y="714970"/>
            <a:ext cx="1153290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4" name="Text 1"/>
          <p:cNvSpPr/>
          <p:nvPr/>
        </p:nvSpPr>
        <p:spPr>
          <a:xfrm>
            <a:off x="812979" y="771624"/>
            <a:ext cx="15360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99575" y="107771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 Foundation for Smarter Data Work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99575" y="25424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demonstrates that a well-architected desktop application can replace fragmented, manual Excel workflows — delivering speed, reliability, and insight in a single package.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0050" y="3662363"/>
            <a:ext cx="6296860" cy="2480667"/>
          </a:xfrm>
          <a:prstGeom prst="roundRect">
            <a:avLst>
              <a:gd name="adj" fmla="val 1143"/>
            </a:avLst>
          </a:prstGeom>
          <a:solidFill>
            <a:srgbClr val="404040"/>
          </a:solidFill>
          <a:ln/>
        </p:spPr>
      </p:sp>
      <p:sp>
        <p:nvSpPr>
          <p:cNvPr id="8" name="Shape 5"/>
          <p:cNvSpPr/>
          <p:nvPr/>
        </p:nvSpPr>
        <p:spPr>
          <a:xfrm>
            <a:off x="690050" y="3662363"/>
            <a:ext cx="3148430" cy="1391543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9" name="Text 6"/>
          <p:cNvSpPr/>
          <p:nvPr/>
        </p:nvSpPr>
        <p:spPr>
          <a:xfrm>
            <a:off x="879057" y="38513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Built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79057" y="4260056"/>
            <a:ext cx="27704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PyQt6 + Pandas + MySQL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838480" y="3662363"/>
            <a:ext cx="3148430" cy="1391543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2" name="Shape 9"/>
          <p:cNvSpPr/>
          <p:nvPr/>
        </p:nvSpPr>
        <p:spPr>
          <a:xfrm>
            <a:off x="3838480" y="3662363"/>
            <a:ext cx="25399" cy="1391543"/>
          </a:xfrm>
          <a:prstGeom prst="roundRect">
            <a:avLst>
              <a:gd name="adj" fmla="val 111630"/>
            </a:avLst>
          </a:prstGeom>
          <a:solidFill>
            <a:srgbClr val="595959"/>
          </a:solidFill>
          <a:ln/>
        </p:spPr>
      </p:sp>
      <p:sp>
        <p:nvSpPr>
          <p:cNvPr id="13" name="Text 10"/>
          <p:cNvSpPr/>
          <p:nvPr/>
        </p:nvSpPr>
        <p:spPr>
          <a:xfrm>
            <a:off x="4027487" y="38513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Solved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027487" y="4260056"/>
            <a:ext cx="27704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Manual, error-prone Excel processing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90050" y="5053905"/>
            <a:ext cx="6296860" cy="1089124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6" name="Shape 13"/>
          <p:cNvSpPr/>
          <p:nvPr/>
        </p:nvSpPr>
        <p:spPr>
          <a:xfrm>
            <a:off x="690050" y="5053905"/>
            <a:ext cx="6296860" cy="25400"/>
          </a:xfrm>
          <a:prstGeom prst="roundRect">
            <a:avLst>
              <a:gd name="adj" fmla="val 111625"/>
            </a:avLst>
          </a:prstGeom>
          <a:solidFill>
            <a:srgbClr val="595959"/>
          </a:solidFill>
          <a:ln/>
        </p:spPr>
      </p:sp>
      <p:sp>
        <p:nvSpPr>
          <p:cNvPr id="17" name="Text 14"/>
          <p:cNvSpPr/>
          <p:nvPr/>
        </p:nvSpPr>
        <p:spPr>
          <a:xfrm>
            <a:off x="879057" y="524291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Delivered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79057" y="5651599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Upload, edit, analyze, export — end to end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26D19D-BD46-F5DE-DC3B-89E55A63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72" r="28080"/>
          <a:stretch>
            <a:fillRect/>
          </a:stretch>
        </p:blipFill>
        <p:spPr>
          <a:xfrm>
            <a:off x="7228073" y="0"/>
            <a:ext cx="4955760" cy="68483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185</TotalTime>
  <Words>596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 Light</vt:lpstr>
      <vt:lpstr>Roboto</vt:lpstr>
      <vt:lpstr>Roboto Mono Medium</vt:lpstr>
      <vt:lpstr>Arial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Sajan Kumar</cp:lastModifiedBy>
  <cp:revision>4</cp:revision>
  <dcterms:created xsi:type="dcterms:W3CDTF">2026-07-24T05:19:02Z</dcterms:created>
  <dcterms:modified xsi:type="dcterms:W3CDTF">2026-07-24T08:56:52Z</dcterms:modified>
</cp:coreProperties>
</file>